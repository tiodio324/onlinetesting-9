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Kanit Light" panose="020B0604020202020204" charset="-34"/>
      <p:regular r:id="rId21"/>
    </p:embeddedFont>
    <p:embeddedFont>
      <p:font typeface="Martel Sans" panose="020B0604020202020204" charset="0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63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254210"/>
            <a:ext cx="2533888" cy="426244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6278" y="2376607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88455" y="2322195"/>
            <a:ext cx="198953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ru-RU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ВКР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280190" y="278308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Система онлайн-тестирования и сертификации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6280190" y="524958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Информационная система для автоматизации процесса создания тестов, проведения тестирования и выдачи сертификатов</a:t>
            </a:r>
            <a:endParaRPr lang="en-US" sz="1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6D4D22D-DFDF-4C33-8633-D2FD5B814B9E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1344" y="529114"/>
            <a:ext cx="5377696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Цели и задачи проекта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1231344" y="1634966"/>
            <a:ext cx="5849064" cy="2585442"/>
          </a:xfrm>
          <a:prstGeom prst="roundRect">
            <a:avLst>
              <a:gd name="adj" fmla="val 312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31250" y="1834872"/>
            <a:ext cx="577096" cy="577096"/>
          </a:xfrm>
          <a:prstGeom prst="roundRect">
            <a:avLst>
              <a:gd name="adj" fmla="val 15843266"/>
            </a:avLst>
          </a:prstGeom>
          <a:solidFill>
            <a:srgbClr val="4370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9961" y="1993463"/>
            <a:ext cx="259675" cy="259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1250" y="2604254"/>
            <a:ext cx="2404586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Основная цель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31250" y="3097173"/>
            <a:ext cx="5449253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Автоматизация полного цикла тестирования: от создания тестов до анализа результатов с выдачей сертификатов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31344" y="4412694"/>
            <a:ext cx="5849064" cy="2585442"/>
          </a:xfrm>
          <a:prstGeom prst="roundRect">
            <a:avLst>
              <a:gd name="adj" fmla="val 312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31250" y="4612600"/>
            <a:ext cx="577096" cy="577096"/>
          </a:xfrm>
          <a:prstGeom prst="roundRect">
            <a:avLst>
              <a:gd name="adj" fmla="val 15843266"/>
            </a:avLst>
          </a:prstGeom>
          <a:solidFill>
            <a:srgbClr val="43706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9961" y="4771192"/>
            <a:ext cx="259675" cy="2596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31250" y="5381982"/>
            <a:ext cx="2725698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Ключевая особенность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1431250" y="5874901"/>
            <a:ext cx="5449253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Single Page Application без перезагрузки страниц, обеспечивающая мгновенную навигацию и плавный пользовательский опыт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373" y="1634966"/>
            <a:ext cx="5849064" cy="58490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B0FAE75-68B7-49D5-BE54-D692627A93E4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34457" y="805934"/>
            <a:ext cx="1876187" cy="363141"/>
          </a:xfrm>
          <a:prstGeom prst="roundRect">
            <a:avLst>
              <a:gd name="adj" fmla="val 17133"/>
            </a:avLst>
          </a:prstGeom>
          <a:noFill/>
          <a:ln w="7620">
            <a:solidFill>
              <a:srgbClr val="43706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53162" y="869037"/>
            <a:ext cx="163877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ФУНКЦИОНАЛЬНОСТЬ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134457" y="1243132"/>
            <a:ext cx="7847886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Возможности системы для пользователей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134457" y="2678073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34457" y="2969776"/>
            <a:ext cx="3831312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8" name="Text 5"/>
          <p:cNvSpPr/>
          <p:nvPr/>
        </p:nvSpPr>
        <p:spPr>
          <a:xfrm>
            <a:off x="6134457" y="3108008"/>
            <a:ext cx="3831312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Неавторизованные пользователи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34457" y="3797737"/>
            <a:ext cx="3831312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Просмотр каталога тестов с фильтрацией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134457" y="4454962"/>
            <a:ext cx="3831312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Прохождение тестов с таймером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134457" y="4815959"/>
            <a:ext cx="3831312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Просмотр категорий и результатов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150912" y="2678073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0150912" y="2969776"/>
            <a:ext cx="3831431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1"/>
          <p:cNvSpPr/>
          <p:nvPr/>
        </p:nvSpPr>
        <p:spPr>
          <a:xfrm>
            <a:off x="10150912" y="3108008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Экзаменаторы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150912" y="3508415"/>
            <a:ext cx="3831431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Создание и редактирование тестов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0150912" y="3869412"/>
            <a:ext cx="3831431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вопросами разных типов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50912" y="4230410"/>
            <a:ext cx="3831431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Анализ статистики прохождений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134457" y="5436156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34457" y="5727859"/>
            <a:ext cx="7847886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0" name="Text 17"/>
          <p:cNvSpPr/>
          <p:nvPr/>
        </p:nvSpPr>
        <p:spPr>
          <a:xfrm>
            <a:off x="6134457" y="5866090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Администраторы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134457" y="6266497"/>
            <a:ext cx="784788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Полный контроль над всеми данными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134457" y="6627495"/>
            <a:ext cx="784788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категориями тестов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134457" y="6988493"/>
            <a:ext cx="784788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Выдача сертификатов</a:t>
            </a:r>
            <a:endParaRPr lang="en-US" sz="14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0AF52DC-D029-49C1-B18E-268F197290EB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304"/>
            <a:ext cx="6125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Технологический стек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41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React 19.2.0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54617"/>
            <a:ext cx="304800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Современная библиотека для создания интерактивного пользовательского интерфейса с компонентным подходом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125278" y="21641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TypeScript 5.9.3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2654617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Типизированный JavaScript для повышения надежности кода и улучшения опыта разработки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21641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Vite 7.3.0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2654617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Быстрый инструмент сборки нового поколения с мгновенным hot module replacement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788491" y="21641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MobX 6.15.0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2654617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Библиотека управления состоянием с реактивным программированием и простым API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5691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Firebase 12.7.0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6059567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Облачная база данных в реальном времени для хранения и синхронизации данных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125278" y="55691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SCSS/SASS 1.97.1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25278" y="6059567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Препроцессор CSS с переменными, миксинами и вложенностью для удобной стилизации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B08331-83A1-462B-852C-7153132E53D0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4229" y="572333"/>
            <a:ext cx="6488311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Архитектура приложения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229" y="1534001"/>
            <a:ext cx="1039773" cy="15307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61885" y="1741884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Components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461885" y="2191345"/>
            <a:ext cx="644068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Переиспользуемые UI компоненты: кнопки, таблицы, модальные окна, макеты страниц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229" y="3064788"/>
            <a:ext cx="1039773" cy="15307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61885" y="3272671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Pages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461885" y="3722132"/>
            <a:ext cx="644068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Основные страницы: главная, тесты, вопросы, результаты, администрирование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229" y="4595574"/>
            <a:ext cx="1039773" cy="15307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61885" y="4803458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461885" y="5252918"/>
            <a:ext cx="644068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MobX stores для управления состоянием: авторизация, данные, навигация, UI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4229" y="6126361"/>
            <a:ext cx="1039773" cy="153078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61885" y="6334244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Types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7461885" y="6783705"/>
            <a:ext cx="644068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TypeScript интерфейсы для типобезопасности всех сущностей системы</a:t>
            </a:r>
            <a:endParaRPr lang="en-US" sz="16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8E268FD-7E8E-4849-9743-661937E3AADD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2963" y="572453"/>
            <a:ext cx="1861661" cy="384572"/>
          </a:xfrm>
          <a:prstGeom prst="roundRect">
            <a:avLst>
              <a:gd name="adj" fmla="val 17881"/>
            </a:avLst>
          </a:prstGeom>
          <a:solidFill>
            <a:srgbClr val="DFECE9"/>
          </a:solidFill>
          <a:ln/>
        </p:spPr>
      </p:sp>
      <p:sp>
        <p:nvSpPr>
          <p:cNvPr id="3" name="Text 1"/>
          <p:cNvSpPr/>
          <p:nvPr/>
        </p:nvSpPr>
        <p:spPr>
          <a:xfrm>
            <a:off x="965716" y="633770"/>
            <a:ext cx="161615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СТРУКТУРА ДАННЫХ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2963" y="1038820"/>
            <a:ext cx="7320796" cy="639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Основные сущности системы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42963" y="2215396"/>
            <a:ext cx="6222563" cy="2503527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0103" y="2215396"/>
            <a:ext cx="91440" cy="2503527"/>
          </a:xfrm>
          <a:prstGeom prst="roundRect">
            <a:avLst>
              <a:gd name="adj" fmla="val 94002"/>
            </a:avLst>
          </a:prstGeom>
          <a:solidFill>
            <a:srgbClr val="437066"/>
          </a:solidFill>
          <a:ln/>
        </p:spPr>
      </p:sp>
      <p:sp>
        <p:nvSpPr>
          <p:cNvPr id="7" name="Text 5"/>
          <p:cNvSpPr/>
          <p:nvPr/>
        </p:nvSpPr>
        <p:spPr>
          <a:xfrm>
            <a:off x="1138952" y="2442805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Test (Тест)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38952" y="2967157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Идентификация и описание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8952" y="3366135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Категория и сложность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8952" y="3765113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Время и проходной балл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8952" y="4164092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Статус активности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2963" y="4923472"/>
            <a:ext cx="6222563" cy="2503527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0103" y="4923472"/>
            <a:ext cx="91440" cy="2503527"/>
          </a:xfrm>
          <a:prstGeom prst="roundRect">
            <a:avLst>
              <a:gd name="adj" fmla="val 94002"/>
            </a:avLst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1138952" y="5150882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Question (Вопрос)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38952" y="5675233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Связь с тестом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8952" y="6074212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Типы: одиночный/множественный/текстовый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8952" y="6473190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Варианты и правильные ответы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8952" y="6872168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Баллы за вопрос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72494" y="2215396"/>
            <a:ext cx="6222563" cy="2503527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9634" y="2215396"/>
            <a:ext cx="91440" cy="2503527"/>
          </a:xfrm>
          <a:prstGeom prst="roundRect">
            <a:avLst>
              <a:gd name="adj" fmla="val 94002"/>
            </a:avLst>
          </a:prstGeom>
          <a:solidFill>
            <a:srgbClr val="437066"/>
          </a:solidFill>
          <a:ln/>
        </p:spPr>
      </p:sp>
      <p:sp>
        <p:nvSpPr>
          <p:cNvPr id="21" name="Text 19"/>
          <p:cNvSpPr/>
          <p:nvPr/>
        </p:nvSpPr>
        <p:spPr>
          <a:xfrm>
            <a:off x="7868483" y="2442805"/>
            <a:ext cx="2602944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TestResult (Результат)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68483" y="2967157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Информация об участнике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68483" y="3366135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Набранные и максимальные баллы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8483" y="3765113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Статус прохождения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8483" y="4164092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Детальные ответы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72494" y="4923472"/>
            <a:ext cx="6222563" cy="2104549"/>
          </a:xfrm>
          <a:prstGeom prst="roundRect">
            <a:avLst>
              <a:gd name="adj" fmla="val 5214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9634" y="4923472"/>
            <a:ext cx="91440" cy="2104549"/>
          </a:xfrm>
          <a:prstGeom prst="roundRect">
            <a:avLst>
              <a:gd name="adj" fmla="val 94002"/>
            </a:avLst>
          </a:prstGeom>
          <a:solidFill>
            <a:srgbClr val="437066"/>
          </a:solidFill>
          <a:ln/>
        </p:spPr>
      </p:sp>
      <p:sp>
        <p:nvSpPr>
          <p:cNvPr id="28" name="Text 26"/>
          <p:cNvSpPr/>
          <p:nvPr/>
        </p:nvSpPr>
        <p:spPr>
          <a:xfrm>
            <a:off x="7868483" y="5150882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Category (Категория)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868483" y="5675233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Название и описание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68483" y="6074212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Группировка тестов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68483" y="6473190"/>
            <a:ext cx="569916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Статус активности</a:t>
            </a:r>
            <a:endParaRPr lang="en-US" sz="160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A7737C0-522C-4227-90DC-4840FDC12789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0057" y="998339"/>
            <a:ext cx="7345918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Система ролей и безопасность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365438" y="2194798"/>
            <a:ext cx="195263" cy="1144786"/>
          </a:xfrm>
          <a:prstGeom prst="roundRect">
            <a:avLst>
              <a:gd name="adj" fmla="val 4202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70057" y="2066568"/>
            <a:ext cx="586026" cy="586026"/>
          </a:xfrm>
          <a:prstGeom prst="roundRect">
            <a:avLst>
              <a:gd name="adj" fmla="val 7801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6504" y="2213015"/>
            <a:ext cx="293013" cy="293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51345" y="2097048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— Студент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951345" y="2519363"/>
            <a:ext cx="6995398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Роль по умолчанию.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Может просматривать и проходить доступные тесты, просматривать свои результаты. Не требует авторизации.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658451" y="3827978"/>
            <a:ext cx="195263" cy="1457325"/>
          </a:xfrm>
          <a:prstGeom prst="roundRect">
            <a:avLst>
              <a:gd name="adj" fmla="val 4202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63070" y="3699748"/>
            <a:ext cx="586026" cy="586026"/>
          </a:xfrm>
          <a:prstGeom prst="roundRect">
            <a:avLst>
              <a:gd name="adj" fmla="val 7801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9517" y="3846195"/>
            <a:ext cx="293013" cy="293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44358" y="3730228"/>
            <a:ext cx="2872740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Examiner — Экзаменатор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7244358" y="4152543"/>
            <a:ext cx="6702385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Требует авторизацию.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Все права студента плюс создание и редактирование тестов, управление вопросами, просмотр всей статистики.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951464" y="5773698"/>
            <a:ext cx="195263" cy="1457325"/>
          </a:xfrm>
          <a:prstGeom prst="roundRect">
            <a:avLst>
              <a:gd name="adj" fmla="val 4202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56082" y="5645468"/>
            <a:ext cx="586026" cy="586026"/>
          </a:xfrm>
          <a:prstGeom prst="roundRect">
            <a:avLst>
              <a:gd name="adj" fmla="val 7801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02529" y="5791914"/>
            <a:ext cx="293013" cy="293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37371" y="5675948"/>
            <a:ext cx="289702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— Администратор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7537371" y="6098262"/>
            <a:ext cx="6409373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Полный доступ.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Все права экзаменатора плюс управление категориями, полный CRUD всех данных, доступ к панели администрирования.</a:t>
            </a:r>
            <a:endParaRPr lang="en-US" sz="15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7178147-108E-4642-A951-34B6151B996A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674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2396" y="3167539"/>
            <a:ext cx="6912293" cy="61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Ключевые компоненты Store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1072396" y="4080391"/>
            <a:ext cx="6144101" cy="1468041"/>
          </a:xfrm>
          <a:prstGeom prst="roundRect">
            <a:avLst>
              <a:gd name="adj" fmla="val 5648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7303" y="4285298"/>
            <a:ext cx="246745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AuthStore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277303" y="4712018"/>
            <a:ext cx="5734288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авторизацией пользователей, хранение информации о текущей роли и правах доступа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413784" y="4080391"/>
            <a:ext cx="6144101" cy="1468041"/>
          </a:xfrm>
          <a:prstGeom prst="roundRect">
            <a:avLst>
              <a:gd name="adj" fmla="val 5648"/>
            </a:avLst>
          </a:prstGeom>
          <a:solidFill>
            <a:srgbClr val="5A8A7E"/>
          </a:solidFill>
          <a:ln w="7620">
            <a:solidFill>
              <a:srgbClr val="73A3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8690" y="4285298"/>
            <a:ext cx="246745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DataStore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18690" y="4712018"/>
            <a:ext cx="5734288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CRUD операции с Firebase: создание, чтение, обновление и удаление тестов, вопросов, результатов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72396" y="5745718"/>
            <a:ext cx="6144101" cy="1783794"/>
          </a:xfrm>
          <a:prstGeom prst="roundRect">
            <a:avLst>
              <a:gd name="adj" fmla="val 4648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7303" y="5950625"/>
            <a:ext cx="246745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NavigationStore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277303" y="6377345"/>
            <a:ext cx="5734288" cy="94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навигацией между страницами без использования react-router, отслеживание текущего состояния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413784" y="5745718"/>
            <a:ext cx="6144101" cy="1783794"/>
          </a:xfrm>
          <a:prstGeom prst="roundRect">
            <a:avLst>
              <a:gd name="adj" fmla="val 4648"/>
            </a:avLst>
          </a:prstGeom>
          <a:solidFill>
            <a:srgbClr val="5A8A7E"/>
          </a:solidFill>
          <a:ln w="7620">
            <a:solidFill>
              <a:srgbClr val="73A39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8690" y="5950625"/>
            <a:ext cx="246745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UIStore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618690" y="6377345"/>
            <a:ext cx="5734288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состоянием интерфейса: модальные окна, уведомления, загрузка данных</a:t>
            </a:r>
            <a:endParaRPr lang="en-US" sz="15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5BEF637-0F4D-4154-B0B5-4F65DDE1025C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0011"/>
            <a:ext cx="74075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Статистика и возможности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65765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894993" y="4297561"/>
            <a:ext cx="2845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Роли пользователей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787979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Гибкая система прав доступа: студент, экзаменатор, администратор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26576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2975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Основные сущности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787979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Тесты, вопросы, результаты и категории с полной типизацией TypeScript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26576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485698" y="4297561"/>
            <a:ext cx="29903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Страниц приложения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78797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Главная, тесты, вопросы, результаты и панель администрирования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326576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42975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Технологий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78797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React, TypeScript, Vite, MobX, Firebase, SCSS для современной разработки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BC21E44-6223-41CE-A107-5632EE17BCCB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4215" y="690920"/>
            <a:ext cx="4741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Запуск и развертывание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2294215" y="1603772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94215" y="1850588"/>
            <a:ext cx="587013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2294215" y="1975604"/>
            <a:ext cx="198453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Требования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294215" y="2382322"/>
            <a:ext cx="5870138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Node.js версии 18 или выше и менеджер пакетов npm для установки зависимостей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94215" y="316777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94215" y="3414593"/>
            <a:ext cx="587013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2294215" y="3539609"/>
            <a:ext cx="239613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Установка зависимостей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294215" y="3946327"/>
            <a:ext cx="5870138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Выполнить команду </a:t>
            </a:r>
            <a:r>
              <a:rPr lang="en-US" sz="12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для загрузки всех необходимых пакетов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94215" y="4500801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94215" y="4747617"/>
            <a:ext cx="587013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2294215" y="4872633"/>
            <a:ext cx="198453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Запуск сервера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294215" y="5279350"/>
            <a:ext cx="5870138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Использовать </a:t>
            </a:r>
            <a:r>
              <a:rPr lang="en-US" sz="12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для запуска development сервера с hot reload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94215" y="5833824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94215" y="6080641"/>
            <a:ext cx="587013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2294215" y="6205657"/>
            <a:ext cx="5870138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165" y="1603772"/>
            <a:ext cx="3784402" cy="378440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294215" y="7015087"/>
            <a:ext cx="10041850" cy="27384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2294215" y="7221022"/>
            <a:ext cx="1004185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Спасибо за внимание!</a:t>
            </a:r>
            <a:endParaRPr lang="en-US" sz="15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BE7BE83-0B59-490B-B580-4BD690E78F6B}"/>
              </a:ext>
            </a:extLst>
          </p:cNvPr>
          <p:cNvSpPr/>
          <p:nvPr/>
        </p:nvSpPr>
        <p:spPr>
          <a:xfrm>
            <a:off x="12840393" y="7775171"/>
            <a:ext cx="1695796" cy="354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544</Words>
  <Application>Microsoft Office PowerPoint</Application>
  <PresentationFormat>Произвольный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Consolas</vt:lpstr>
      <vt:lpstr>Martel Sans</vt:lpstr>
      <vt:lpstr>Kanit Light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3</cp:revision>
  <dcterms:created xsi:type="dcterms:W3CDTF">2026-01-06T21:09:43Z</dcterms:created>
  <dcterms:modified xsi:type="dcterms:W3CDTF">2026-01-17T18:50:51Z</dcterms:modified>
</cp:coreProperties>
</file>